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2210E84-870E-A130-0643-1FE226838980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543425" y="6642100"/>
            <a:ext cx="313055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Confidential - Not for Public Consumption or Distribution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094E2EED-D6E1-4071-95D6-A284398AA6C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DC0372E-07C3-49BB-9A79-2D9F0F65979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238250"/>
          </a:xfrm>
          <a:prstGeom prst="rect">
            <a:avLst/>
          </a:prstGeom>
          <a:solidFill>
            <a:srgbClr val="DCEBE5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116731-0D2D-4E28-8E57-3FB55CB482B2}"/>
              </a:ext>
            </a:extLst>
          </p:cNvPr>
          <p:cNvSpPr>
            <a:spLocks noGrp="1"/>
          </p:cNvSpPr>
          <p:nvPr/>
        </p:nvSpPr>
        <p:spPr>
          <a:xfrm>
            <a:off x="0" y="5143500"/>
            <a:ext cx="12192000" cy="1714500"/>
          </a:xfrm>
          <a:prstGeom prst="rect">
            <a:avLst/>
          </a:prstGeom>
          <a:solidFill>
            <a:srgbClr val="F4EADC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AA10DC9-79B3-405A-B82B-A01A5522DD43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6F9B77D-E047-4F2C-9DEB-C464A45A6BF6}"/>
              </a:ext>
            </a:extLst>
          </p:cNvPr>
          <p:cNvSpPr>
            <a:spLocks noGrp="1"/>
          </p:cNvSpPr>
          <p:nvPr/>
        </p:nvSpPr>
        <p:spPr>
          <a:xfrm>
            <a:off x="771525" y="638175"/>
            <a:ext cx="228600" cy="228600"/>
          </a:xfrm>
          <a:prstGeom prst="ellipse">
            <a:avLst/>
          </a:prstGeom>
          <a:solidFill>
            <a:srgbClr val="245447"/>
          </a:solidFill>
          <a:ln w="12383">
            <a:solidFill>
              <a:srgbClr val="F4E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98D81FE-C575-437D-9DD7-AD1F2BF1E643}"/>
              </a:ext>
            </a:extLst>
          </p:cNvPr>
          <p:cNvSpPr>
            <a:spLocks noGrp="1"/>
          </p:cNvSpPr>
          <p:nvPr/>
        </p:nvSpPr>
        <p:spPr>
          <a:xfrm>
            <a:off x="847725" y="742950"/>
            <a:ext cx="171450" cy="9525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25EDA6F-5203-4FDD-89B9-F58CB637167E}"/>
              </a:ext>
            </a:extLst>
          </p:cNvPr>
          <p:cNvSpPr>
            <a:spLocks noGrp="1"/>
          </p:cNvSpPr>
          <p:nvPr/>
        </p:nvSpPr>
        <p:spPr>
          <a:xfrm>
            <a:off x="1200150" y="552450"/>
            <a:ext cx="28575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45447"/>
                </a:solidFill>
                <a:latin typeface="Avenir Next"/>
                <a:ea typeface="Avenir Next"/>
                <a:cs typeface="Avenir Next"/>
              </a:defRPr>
            </a:pPr>
            <a:r>
              <a:t>Juniper Loop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F18FC2-D0A2-49CD-B256-C8E099DB7565}"/>
              </a:ext>
            </a:extLst>
          </p:cNvPr>
          <p:cNvSpPr>
            <a:spLocks noGrp="1"/>
          </p:cNvSpPr>
          <p:nvPr/>
        </p:nvSpPr>
        <p:spPr>
          <a:xfrm>
            <a:off x="685800" y="1943100"/>
            <a:ext cx="5143500" cy="2476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1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Team results presentation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F9AEC9E-8B0D-42D7-A5FF-39911DBCA256}"/>
              </a:ext>
            </a:extLst>
          </p:cNvPr>
          <p:cNvSpPr>
            <a:spLocks noGrp="1"/>
          </p:cNvSpPr>
          <p:nvPr/>
        </p:nvSpPr>
        <p:spPr>
          <a:xfrm>
            <a:off x="685800" y="2305050"/>
            <a:ext cx="7239000" cy="1466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420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AI Hackathon</a:t>
            </a:r>
          </a:p>
          <a:p>
            <a:pPr algn="l">
              <a:defRPr sz="420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Team Results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9AAD54-81CD-4AB6-BF59-2B1B9C6936BB}"/>
              </a:ext>
            </a:extLst>
          </p:cNvPr>
          <p:cNvSpPr>
            <a:spLocks noGrp="1"/>
          </p:cNvSpPr>
          <p:nvPr/>
        </p:nvSpPr>
        <p:spPr>
          <a:xfrm>
            <a:off x="723900" y="4038600"/>
            <a:ext cx="5524500" cy="438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575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Use this scaffold for your Monday demo + story.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03AA7C6D-2926-4961-B8AB-C6440EB4FC74}"/>
              </a:ext>
            </a:extLst>
          </p:cNvPr>
          <p:cNvSpPr>
            <a:spLocks noGrp="1"/>
          </p:cNvSpPr>
          <p:nvPr/>
        </p:nvSpPr>
        <p:spPr>
          <a:xfrm>
            <a:off x="8305800" y="1866900"/>
            <a:ext cx="2457450" cy="2457450"/>
          </a:xfrm>
          <a:prstGeom prst="roundRect">
            <a:avLst>
              <a:gd name="adj" fmla="val 3101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E04247E-4693-4102-948E-35A1B8EAAA98}"/>
              </a:ext>
            </a:extLst>
          </p:cNvPr>
          <p:cNvSpPr>
            <a:spLocks noGrp="1"/>
          </p:cNvSpPr>
          <p:nvPr/>
        </p:nvSpPr>
        <p:spPr>
          <a:xfrm>
            <a:off x="8839200" y="2400300"/>
            <a:ext cx="1390650" cy="1390650"/>
          </a:xfrm>
          <a:prstGeom prst="ellipse">
            <a:avLst/>
          </a:prstGeom>
          <a:solidFill>
            <a:srgbClr val="DCEBE5"/>
          </a:solidFill>
          <a:ln w="12383">
            <a:solidFill>
              <a:srgbClr val="DCEB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6AB013E-83E4-4557-A347-468B403BB5A0}"/>
              </a:ext>
            </a:extLst>
          </p:cNvPr>
          <p:cNvSpPr>
            <a:spLocks noGrp="1"/>
          </p:cNvSpPr>
          <p:nvPr/>
        </p:nvSpPr>
        <p:spPr>
          <a:xfrm>
            <a:off x="9277350" y="2857500"/>
            <a:ext cx="1200150" cy="64770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4600423-D17E-4B84-94CE-11505CD05589}"/>
              </a:ext>
            </a:extLst>
          </p:cNvPr>
          <p:cNvSpPr>
            <a:spLocks noGrp="1"/>
          </p:cNvSpPr>
          <p:nvPr/>
        </p:nvSpPr>
        <p:spPr>
          <a:xfrm>
            <a:off x="7791450" y="4476750"/>
            <a:ext cx="348615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ctr">
              <a:defRPr sz="1500" b="1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rPr dirty="0"/>
              <a:t>10 minutes per team + Q&amp;A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64CFE8-1564-4E84-A9A0-D9642CD5B3E2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01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D13BEEE-8ED4-4249-ABA6-C296D987CDF9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382250" cy="14288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81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C69A928-36FE-4F75-AFB7-DEC49C4349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87308CF5-9EF9-43EC-9C0F-364CE559CA59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CFB827E8-FC43-4247-AE31-72C828396671}"/>
              </a:ext>
            </a:extLst>
          </p:cNvPr>
          <p:cNvSpPr>
            <a:spLocks noGrp="1"/>
          </p:cNvSpPr>
          <p:nvPr/>
        </p:nvSpPr>
        <p:spPr>
          <a:xfrm>
            <a:off x="695325" y="485775"/>
            <a:ext cx="228600" cy="228600"/>
          </a:xfrm>
          <a:prstGeom prst="ellipse">
            <a:avLst/>
          </a:prstGeom>
          <a:solidFill>
            <a:srgbClr val="245447"/>
          </a:solidFill>
          <a:ln w="12383">
            <a:solidFill>
              <a:srgbClr val="F4E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DA06D79-355E-46B1-A12B-881C212070ED}"/>
              </a:ext>
            </a:extLst>
          </p:cNvPr>
          <p:cNvSpPr>
            <a:spLocks noGrp="1"/>
          </p:cNvSpPr>
          <p:nvPr/>
        </p:nvSpPr>
        <p:spPr>
          <a:xfrm>
            <a:off x="771525" y="590550"/>
            <a:ext cx="171450" cy="9525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15AEB7-79E9-4F27-B8FC-A7590CF0429A}"/>
              </a:ext>
            </a:extLst>
          </p:cNvPr>
          <p:cNvSpPr>
            <a:spLocks noGrp="1"/>
          </p:cNvSpPr>
          <p:nvPr/>
        </p:nvSpPr>
        <p:spPr>
          <a:xfrm>
            <a:off x="10668000" y="457200"/>
            <a:ext cx="81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5E99EE2-0A4A-4540-86F3-47630A79F280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934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Problem Statement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4AF748-9EE0-4693-9F67-4E76A29D305F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How did you approach the challenge?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536265B-C614-4884-96FB-1AE2FE6A7346}"/>
              </a:ext>
            </a:extLst>
          </p:cNvPr>
          <p:cNvSpPr>
            <a:spLocks noGrp="1"/>
          </p:cNvSpPr>
          <p:nvPr/>
        </p:nvSpPr>
        <p:spPr>
          <a:xfrm>
            <a:off x="609600" y="2495550"/>
            <a:ext cx="3257550" cy="2590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3DC6987-F908-4872-BF2E-8F9229A68FF4}"/>
              </a:ext>
            </a:extLst>
          </p:cNvPr>
          <p:cNvSpPr>
            <a:spLocks noGrp="1"/>
          </p:cNvSpPr>
          <p:nvPr/>
        </p:nvSpPr>
        <p:spPr>
          <a:xfrm>
            <a:off x="819150" y="2667000"/>
            <a:ext cx="2838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Problem to solve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D820274-D1BA-4A0D-995C-59B1A43FFBC4}"/>
              </a:ext>
            </a:extLst>
          </p:cNvPr>
          <p:cNvSpPr>
            <a:spLocks noGrp="1"/>
          </p:cNvSpPr>
          <p:nvPr/>
        </p:nvSpPr>
        <p:spPr>
          <a:xfrm>
            <a:off x="819150" y="2952750"/>
            <a:ext cx="2838450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What did you see as the opportunity or problem worth solving?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DD9BE55-91D9-4738-B5E8-3C534793E1FE}"/>
              </a:ext>
            </a:extLst>
          </p:cNvPr>
          <p:cNvSpPr>
            <a:spLocks noGrp="1"/>
          </p:cNvSpPr>
          <p:nvPr/>
        </p:nvSpPr>
        <p:spPr>
          <a:xfrm>
            <a:off x="4324350" y="2495550"/>
            <a:ext cx="3257550" cy="2590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FE4081-A047-4BC6-BF5C-D54D04E86428}"/>
              </a:ext>
            </a:extLst>
          </p:cNvPr>
          <p:cNvSpPr>
            <a:spLocks noGrp="1"/>
          </p:cNvSpPr>
          <p:nvPr/>
        </p:nvSpPr>
        <p:spPr>
          <a:xfrm>
            <a:off x="4533900" y="2667000"/>
            <a:ext cx="2838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Why it matters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B501BC-8085-4D17-A297-FCCDF3C4B232}"/>
              </a:ext>
            </a:extLst>
          </p:cNvPr>
          <p:cNvSpPr>
            <a:spLocks noGrp="1"/>
          </p:cNvSpPr>
          <p:nvPr/>
        </p:nvSpPr>
        <p:spPr>
          <a:xfrm>
            <a:off x="4533900" y="2952750"/>
            <a:ext cx="2838450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Why was it worth solving for members, employees, or the business?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13D8446-656E-4082-961A-24236A25AE36}"/>
              </a:ext>
            </a:extLst>
          </p:cNvPr>
          <p:cNvSpPr>
            <a:spLocks noGrp="1"/>
          </p:cNvSpPr>
          <p:nvPr/>
        </p:nvSpPr>
        <p:spPr>
          <a:xfrm>
            <a:off x="8039100" y="2495550"/>
            <a:ext cx="3257550" cy="25908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B0DC240-43C3-4260-9D1C-47CC25417BB8}"/>
              </a:ext>
            </a:extLst>
          </p:cNvPr>
          <p:cNvSpPr>
            <a:spLocks noGrp="1"/>
          </p:cNvSpPr>
          <p:nvPr/>
        </p:nvSpPr>
        <p:spPr>
          <a:xfrm>
            <a:off x="8248650" y="2667000"/>
            <a:ext cx="2838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Assumptions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9959EF-23D3-43DE-A2E5-D90614AD850C}"/>
              </a:ext>
            </a:extLst>
          </p:cNvPr>
          <p:cNvSpPr>
            <a:spLocks noGrp="1"/>
          </p:cNvSpPr>
          <p:nvPr/>
        </p:nvSpPr>
        <p:spPr>
          <a:xfrm>
            <a:off x="8248650" y="2952750"/>
            <a:ext cx="2838450" cy="1981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What constraints, boundaries, or starting assumptions did you make?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8447F35-8961-4ACE-9C3E-9F20D2072791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02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9052F76-6F01-4E26-9C74-3F1590397D32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382250" cy="14288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049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F3FAA49C-3D75-4665-903C-048E7189B17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3443C4-7A5C-4064-8DD2-ACEF582772A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83A8240-4343-4E16-9020-BE0BBDE4E768}"/>
              </a:ext>
            </a:extLst>
          </p:cNvPr>
          <p:cNvSpPr>
            <a:spLocks noGrp="1"/>
          </p:cNvSpPr>
          <p:nvPr/>
        </p:nvSpPr>
        <p:spPr>
          <a:xfrm>
            <a:off x="695325" y="485775"/>
            <a:ext cx="228600" cy="228600"/>
          </a:xfrm>
          <a:prstGeom prst="ellipse">
            <a:avLst/>
          </a:prstGeom>
          <a:solidFill>
            <a:srgbClr val="245447"/>
          </a:solidFill>
          <a:ln w="12383">
            <a:solidFill>
              <a:srgbClr val="F4E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7FE6487-8527-4779-8762-4F7F68C65CA2}"/>
              </a:ext>
            </a:extLst>
          </p:cNvPr>
          <p:cNvSpPr>
            <a:spLocks noGrp="1"/>
          </p:cNvSpPr>
          <p:nvPr/>
        </p:nvSpPr>
        <p:spPr>
          <a:xfrm>
            <a:off x="771525" y="590550"/>
            <a:ext cx="171450" cy="9525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B9191CD-F559-4C3F-8031-8B42632CF638}"/>
              </a:ext>
            </a:extLst>
          </p:cNvPr>
          <p:cNvSpPr>
            <a:spLocks noGrp="1"/>
          </p:cNvSpPr>
          <p:nvPr/>
        </p:nvSpPr>
        <p:spPr>
          <a:xfrm>
            <a:off x="10668000" y="457200"/>
            <a:ext cx="81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70A2D63-1979-471E-8B61-257137C4D42A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934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AI-First Approach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D872EB-B827-445C-A07C-E5F4F1C99AC0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How did AI change your approach compared to traditional development?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1109D5B3-437F-4DED-B00C-1FBB4DBA1A45}"/>
              </a:ext>
            </a:extLst>
          </p:cNvPr>
          <p:cNvSpPr>
            <a:spLocks noGrp="1"/>
          </p:cNvSpPr>
          <p:nvPr/>
        </p:nvSpPr>
        <p:spPr>
          <a:xfrm>
            <a:off x="685800" y="2476500"/>
            <a:ext cx="2381250" cy="2190750"/>
          </a:xfrm>
          <a:prstGeom prst="roundRect">
            <a:avLst>
              <a:gd name="adj" fmla="val 3478"/>
            </a:avLst>
          </a:prstGeom>
          <a:solidFill>
            <a:srgbClr val="DCEBE5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2830714-4AC1-4B31-8D7B-8CDB6C6C303B}"/>
              </a:ext>
            </a:extLst>
          </p:cNvPr>
          <p:cNvSpPr>
            <a:spLocks noGrp="1"/>
          </p:cNvSpPr>
          <p:nvPr/>
        </p:nvSpPr>
        <p:spPr>
          <a:xfrm>
            <a:off x="895350" y="264795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Where AI was used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30A1C25-8DA6-4F85-8338-DFF9625EAF62}"/>
              </a:ext>
            </a:extLst>
          </p:cNvPr>
          <p:cNvSpPr>
            <a:spLocks noGrp="1"/>
          </p:cNvSpPr>
          <p:nvPr/>
        </p:nvSpPr>
        <p:spPr>
          <a:xfrm>
            <a:off x="895350" y="2933700"/>
            <a:ext cx="196215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Ideation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Coding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Validation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Orchestration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9DDCEBC7-5D3D-4612-9BD2-A64E39EB352D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2381250" cy="2190750"/>
          </a:xfrm>
          <a:prstGeom prst="roundRect">
            <a:avLst>
              <a:gd name="adj" fmla="val 3478"/>
            </a:avLst>
          </a:prstGeom>
          <a:solidFill>
            <a:srgbClr val="F4EADC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761B7D-2E9B-4F45-A7C7-944D1B57FED0}"/>
              </a:ext>
            </a:extLst>
          </p:cNvPr>
          <p:cNvSpPr>
            <a:spLocks noGrp="1"/>
          </p:cNvSpPr>
          <p:nvPr/>
        </p:nvSpPr>
        <p:spPr>
          <a:xfrm>
            <a:off x="3638550" y="264795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No longer manual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ED5773-8B33-410D-BC60-1E4A984FC96C}"/>
              </a:ext>
            </a:extLst>
          </p:cNvPr>
          <p:cNvSpPr>
            <a:spLocks noGrp="1"/>
          </p:cNvSpPr>
          <p:nvPr/>
        </p:nvSpPr>
        <p:spPr>
          <a:xfrm>
            <a:off x="3638550" y="2933700"/>
            <a:ext cx="196215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What did AI help remove, compress, or reframe?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8C6C2F-752A-4D11-9011-0162C702CECA}"/>
              </a:ext>
            </a:extLst>
          </p:cNvPr>
          <p:cNvSpPr>
            <a:spLocks noGrp="1"/>
          </p:cNvSpPr>
          <p:nvPr/>
        </p:nvSpPr>
        <p:spPr>
          <a:xfrm>
            <a:off x="6172200" y="2476500"/>
            <a:ext cx="2381250" cy="2190750"/>
          </a:xfrm>
          <a:prstGeom prst="roundRect">
            <a:avLst>
              <a:gd name="adj" fmla="val 3478"/>
            </a:avLst>
          </a:prstGeom>
          <a:solidFill>
            <a:srgbClr val="DCEBE5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5BDD743-134D-41F4-9261-EE25ECC85BE2}"/>
              </a:ext>
            </a:extLst>
          </p:cNvPr>
          <p:cNvSpPr>
            <a:spLocks noGrp="1"/>
          </p:cNvSpPr>
          <p:nvPr/>
        </p:nvSpPr>
        <p:spPr>
          <a:xfrm>
            <a:off x="6381750" y="264795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Agent patterns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10B6D66-D98C-4CB0-9C12-984394964A3E}"/>
              </a:ext>
            </a:extLst>
          </p:cNvPr>
          <p:cNvSpPr>
            <a:spLocks noGrp="1"/>
          </p:cNvSpPr>
          <p:nvPr/>
        </p:nvSpPr>
        <p:spPr>
          <a:xfrm>
            <a:off x="6381750" y="2933700"/>
            <a:ext cx="196215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Any coordinator, reviewer, generator, or evaluator patterns?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2AD02F0-19D1-4BB5-BCBD-9C8DFBF8E444}"/>
              </a:ext>
            </a:extLst>
          </p:cNvPr>
          <p:cNvSpPr>
            <a:spLocks noGrp="1"/>
          </p:cNvSpPr>
          <p:nvPr/>
        </p:nvSpPr>
        <p:spPr>
          <a:xfrm>
            <a:off x="8915400" y="2476500"/>
            <a:ext cx="2381250" cy="2190750"/>
          </a:xfrm>
          <a:prstGeom prst="roundRect">
            <a:avLst>
              <a:gd name="adj" fmla="val 3478"/>
            </a:avLst>
          </a:prstGeom>
          <a:solidFill>
            <a:srgbClr val="F4EADC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68468A6-0D70-44C1-AFAE-9CB1ACCA617A}"/>
              </a:ext>
            </a:extLst>
          </p:cNvPr>
          <p:cNvSpPr>
            <a:spLocks noGrp="1"/>
          </p:cNvSpPr>
          <p:nvPr/>
        </p:nvSpPr>
        <p:spPr>
          <a:xfrm>
            <a:off x="9124950" y="2647950"/>
            <a:ext cx="19621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Prompt examples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F90BB2C-08F3-4DBF-8153-B8BB4A273E15}"/>
              </a:ext>
            </a:extLst>
          </p:cNvPr>
          <p:cNvSpPr>
            <a:spLocks noGrp="1"/>
          </p:cNvSpPr>
          <p:nvPr/>
        </p:nvSpPr>
        <p:spPr>
          <a:xfrm>
            <a:off x="9124950" y="2933700"/>
            <a:ext cx="1962150" cy="1581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Instead of X, we used AI to...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The key shift was...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BEA075D-AC26-4676-B37C-9EA723AF5E1E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03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424654F-165E-44B9-9717-CE5E17E96563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382250" cy="14288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3457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>
            <a:extLst>
              <a:ext uri="{FF2B5EF4-FFF2-40B4-BE49-F238E27FC236}">
                <a16:creationId xmlns:a16="http://schemas.microsoft.com/office/drawing/2014/main" id="{1B489FEB-B76F-45BA-ACBB-12372910BCC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BEFB429E-87D6-48FC-B4D3-176EAA01281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ACD8AF2C-B016-4B1B-82ED-278B958871EA}"/>
              </a:ext>
            </a:extLst>
          </p:cNvPr>
          <p:cNvSpPr>
            <a:spLocks noGrp="1"/>
          </p:cNvSpPr>
          <p:nvPr/>
        </p:nvSpPr>
        <p:spPr>
          <a:xfrm>
            <a:off x="695325" y="485775"/>
            <a:ext cx="228600" cy="228600"/>
          </a:xfrm>
          <a:prstGeom prst="ellipse">
            <a:avLst/>
          </a:prstGeom>
          <a:solidFill>
            <a:srgbClr val="245447"/>
          </a:solidFill>
          <a:ln w="12383">
            <a:solidFill>
              <a:srgbClr val="F4E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8AA1178-F86B-4BDD-89EC-CB0AE8FA3C4C}"/>
              </a:ext>
            </a:extLst>
          </p:cNvPr>
          <p:cNvSpPr>
            <a:spLocks noGrp="1"/>
          </p:cNvSpPr>
          <p:nvPr/>
        </p:nvSpPr>
        <p:spPr>
          <a:xfrm>
            <a:off x="771525" y="590550"/>
            <a:ext cx="171450" cy="9525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F2B7A5E-9152-4C6D-BA16-22FA6733DFBF}"/>
              </a:ext>
            </a:extLst>
          </p:cNvPr>
          <p:cNvSpPr>
            <a:spLocks noGrp="1"/>
          </p:cNvSpPr>
          <p:nvPr/>
        </p:nvSpPr>
        <p:spPr>
          <a:xfrm>
            <a:off x="10668000" y="457200"/>
            <a:ext cx="81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4374D1-E927-47EF-9DC3-CAEA3DD25EB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934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Architecture / Workflow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ED79B88-5823-4CE0-ABAC-D52F0D3C5955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Show a high-level view. Diagram or bullets are both fine.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7517587-0AB7-4A21-814B-0F6375B53916}"/>
              </a:ext>
            </a:extLst>
          </p:cNvPr>
          <p:cNvSpPr>
            <a:spLocks noGrp="1"/>
          </p:cNvSpPr>
          <p:nvPr/>
        </p:nvSpPr>
        <p:spPr>
          <a:xfrm>
            <a:off x="609600" y="2628900"/>
            <a:ext cx="2095500" cy="149443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47D7B84-613B-4D26-BE9A-75AA15E3BBDD}"/>
              </a:ext>
            </a:extLst>
          </p:cNvPr>
          <p:cNvSpPr>
            <a:spLocks noGrp="1"/>
          </p:cNvSpPr>
          <p:nvPr/>
        </p:nvSpPr>
        <p:spPr>
          <a:xfrm>
            <a:off x="819150" y="28003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Inputs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D7AA56F-99D9-46C4-9EED-96341F96469E}"/>
              </a:ext>
            </a:extLst>
          </p:cNvPr>
          <p:cNvSpPr>
            <a:spLocks noGrp="1"/>
          </p:cNvSpPr>
          <p:nvPr/>
        </p:nvSpPr>
        <p:spPr>
          <a:xfrm>
            <a:off x="819150" y="3086100"/>
            <a:ext cx="16764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Data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Context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Prompts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Assets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28D90C7-46E7-459E-9999-27E4DC292E67}"/>
              </a:ext>
            </a:extLst>
          </p:cNvPr>
          <p:cNvSpPr>
            <a:spLocks noGrp="1"/>
          </p:cNvSpPr>
          <p:nvPr/>
        </p:nvSpPr>
        <p:spPr>
          <a:xfrm>
            <a:off x="3200400" y="2628900"/>
            <a:ext cx="2095500" cy="149443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0914A5E-5772-49BD-802F-DB43AE457540}"/>
              </a:ext>
            </a:extLst>
          </p:cNvPr>
          <p:cNvSpPr>
            <a:spLocks noGrp="1"/>
          </p:cNvSpPr>
          <p:nvPr/>
        </p:nvSpPr>
        <p:spPr>
          <a:xfrm>
            <a:off x="3409950" y="28003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AI models/tools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97FDB67-0B40-4FA0-93C5-F4C683CBB1A2}"/>
              </a:ext>
            </a:extLst>
          </p:cNvPr>
          <p:cNvSpPr>
            <a:spLocks noGrp="1"/>
          </p:cNvSpPr>
          <p:nvPr/>
        </p:nvSpPr>
        <p:spPr>
          <a:xfrm>
            <a:off x="3409950" y="3086100"/>
            <a:ext cx="16764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Codex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Agents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LLMs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Scripts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027F74-1C57-4260-B093-B7F1039C8AB0}"/>
              </a:ext>
            </a:extLst>
          </p:cNvPr>
          <p:cNvSpPr>
            <a:spLocks noGrp="1"/>
          </p:cNvSpPr>
          <p:nvPr/>
        </p:nvSpPr>
        <p:spPr>
          <a:xfrm>
            <a:off x="5791200" y="2628900"/>
            <a:ext cx="2095500" cy="149443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4D29BC-7BF3-4FD1-AF4D-BDCA068B8105}"/>
              </a:ext>
            </a:extLst>
          </p:cNvPr>
          <p:cNvSpPr>
            <a:spLocks noGrp="1"/>
          </p:cNvSpPr>
          <p:nvPr/>
        </p:nvSpPr>
        <p:spPr>
          <a:xfrm>
            <a:off x="6000750" y="28003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Decision moments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6DD7F7C-CA01-4ECA-B8C9-5DEA73F760A9}"/>
              </a:ext>
            </a:extLst>
          </p:cNvPr>
          <p:cNvSpPr>
            <a:spLocks noGrp="1"/>
          </p:cNvSpPr>
          <p:nvPr/>
        </p:nvSpPr>
        <p:spPr>
          <a:xfrm>
            <a:off x="6000750" y="3086100"/>
            <a:ext cx="16764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Where did logic, judgment, or routing happen?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60F0B6D-5A90-4192-B081-99CFCDA78E32}"/>
              </a:ext>
            </a:extLst>
          </p:cNvPr>
          <p:cNvSpPr>
            <a:spLocks noGrp="1"/>
          </p:cNvSpPr>
          <p:nvPr/>
        </p:nvSpPr>
        <p:spPr>
          <a:xfrm>
            <a:off x="8382000" y="2628900"/>
            <a:ext cx="2095500" cy="149443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58AB349-F508-42C0-9841-E5B6CA915101}"/>
              </a:ext>
            </a:extLst>
          </p:cNvPr>
          <p:cNvSpPr>
            <a:spLocks noGrp="1"/>
          </p:cNvSpPr>
          <p:nvPr/>
        </p:nvSpPr>
        <p:spPr>
          <a:xfrm>
            <a:off x="8591550" y="2800350"/>
            <a:ext cx="1676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Validation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3FEE4FE-A68C-4E11-B124-D9A3315759F1}"/>
              </a:ext>
            </a:extLst>
          </p:cNvPr>
          <p:cNvSpPr>
            <a:spLocks noGrp="1"/>
          </p:cNvSpPr>
          <p:nvPr/>
        </p:nvSpPr>
        <p:spPr>
          <a:xfrm>
            <a:off x="8591550" y="3086100"/>
            <a:ext cx="1676400" cy="685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Human review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Guardrails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QA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25EC7ED6-8D35-4FEA-8A17-00E88DAAE92C}"/>
              </a:ext>
            </a:extLst>
          </p:cNvPr>
          <p:cNvSpPr>
            <a:spLocks noGrp="1"/>
          </p:cNvSpPr>
          <p:nvPr/>
        </p:nvSpPr>
        <p:spPr>
          <a:xfrm>
            <a:off x="1219200" y="4476750"/>
            <a:ext cx="8724900" cy="867770"/>
          </a:xfrm>
          <a:prstGeom prst="roundRect">
            <a:avLst>
              <a:gd name="adj" fmla="val 11429"/>
            </a:avLst>
          </a:prstGeom>
          <a:solidFill>
            <a:srgbClr val="DCEBE5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AE63C26-D7DB-4A04-8A53-5459DE03410A}"/>
              </a:ext>
            </a:extLst>
          </p:cNvPr>
          <p:cNvSpPr>
            <a:spLocks noGrp="1"/>
          </p:cNvSpPr>
          <p:nvPr/>
        </p:nvSpPr>
        <p:spPr>
          <a:xfrm>
            <a:off x="1428750" y="4648200"/>
            <a:ext cx="83058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Optional detail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2D8F319-0FE5-44DB-9AF3-6EEB4BE83161}"/>
              </a:ext>
            </a:extLst>
          </p:cNvPr>
          <p:cNvSpPr>
            <a:spLocks noGrp="1"/>
          </p:cNvSpPr>
          <p:nvPr/>
        </p:nvSpPr>
        <p:spPr>
          <a:xfrm>
            <a:off x="1428750" y="4933950"/>
            <a:ext cx="8305800" cy="571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Prompt chains, agent roles, controller/coordinator logic, context files, or validation loops.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007FE0-1924-4E01-8A85-A1B183586D01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04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E03ABEB-6962-41E3-9BA0-0947075E2F44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382250" cy="14288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182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EA444F19-9297-4DF5-8B69-26FE7304DD9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3D26787-BF26-4B04-8E2F-249EAFCD60CF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4E0051-3A69-4B2F-855D-DB1186D02605}"/>
              </a:ext>
            </a:extLst>
          </p:cNvPr>
          <p:cNvSpPr>
            <a:spLocks noGrp="1"/>
          </p:cNvSpPr>
          <p:nvPr/>
        </p:nvSpPr>
        <p:spPr>
          <a:xfrm>
            <a:off x="695325" y="485775"/>
            <a:ext cx="228600" cy="228600"/>
          </a:xfrm>
          <a:prstGeom prst="ellipse">
            <a:avLst/>
          </a:prstGeom>
          <a:solidFill>
            <a:srgbClr val="245447"/>
          </a:solidFill>
          <a:ln w="12383">
            <a:solidFill>
              <a:srgbClr val="F4E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AF5C10C7-48C3-487F-8EC5-DC64D0A611A5}"/>
              </a:ext>
            </a:extLst>
          </p:cNvPr>
          <p:cNvSpPr>
            <a:spLocks noGrp="1"/>
          </p:cNvSpPr>
          <p:nvPr/>
        </p:nvSpPr>
        <p:spPr>
          <a:xfrm>
            <a:off x="771525" y="590550"/>
            <a:ext cx="171450" cy="9525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CE3DC8-6659-4D3D-A9D2-8E016A03A1B9}"/>
              </a:ext>
            </a:extLst>
          </p:cNvPr>
          <p:cNvSpPr>
            <a:spLocks noGrp="1"/>
          </p:cNvSpPr>
          <p:nvPr/>
        </p:nvSpPr>
        <p:spPr>
          <a:xfrm>
            <a:off x="10668000" y="457200"/>
            <a:ext cx="81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3F6DDA1-DB8B-479D-8263-1222348F0D3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934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Hands-On Demo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E35A7DE-458D-4B6B-84B6-FC3EDBED3483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Optional but encouraged: live or recorded demo, 2-3 minutes max.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3F17CE4-C452-453C-B30B-257D1681C0D8}"/>
              </a:ext>
            </a:extLst>
          </p:cNvPr>
          <p:cNvSpPr>
            <a:spLocks noGrp="1"/>
          </p:cNvSpPr>
          <p:nvPr/>
        </p:nvSpPr>
        <p:spPr>
          <a:xfrm>
            <a:off x="685800" y="2419350"/>
            <a:ext cx="6210300" cy="3105150"/>
          </a:xfrm>
          <a:prstGeom prst="roundRect">
            <a:avLst>
              <a:gd name="adj" fmla="val 2454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34032B9-45EA-407F-9193-2FB459DA2D31}"/>
              </a:ext>
            </a:extLst>
          </p:cNvPr>
          <p:cNvSpPr>
            <a:spLocks noGrp="1"/>
          </p:cNvSpPr>
          <p:nvPr/>
        </p:nvSpPr>
        <p:spPr>
          <a:xfrm>
            <a:off x="895350" y="2590800"/>
            <a:ext cx="57912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Demo frame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066CE40-936E-4D3B-B6B0-F9CCFB8BD0CA}"/>
              </a:ext>
            </a:extLst>
          </p:cNvPr>
          <p:cNvSpPr>
            <a:spLocks noGrp="1"/>
          </p:cNvSpPr>
          <p:nvPr/>
        </p:nvSpPr>
        <p:spPr>
          <a:xfrm>
            <a:off x="895350" y="2876550"/>
            <a:ext cx="5791200" cy="2495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Show the interaction, not the polish.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What is novel compared with conventional tooling?</a:t>
            </a:r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Where did AI output influence decisions?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B64408F0-E952-441D-AEFF-DFA76A2683FD}"/>
              </a:ext>
            </a:extLst>
          </p:cNvPr>
          <p:cNvSpPr>
            <a:spLocks noGrp="1"/>
          </p:cNvSpPr>
          <p:nvPr/>
        </p:nvSpPr>
        <p:spPr>
          <a:xfrm>
            <a:off x="7467600" y="2419350"/>
            <a:ext cx="3257550" cy="3105150"/>
          </a:xfrm>
          <a:prstGeom prst="roundRect">
            <a:avLst>
              <a:gd name="adj" fmla="val 2454"/>
            </a:avLst>
          </a:prstGeom>
          <a:solidFill>
            <a:srgbClr val="F4EADC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E757A1B-71A5-420E-AAB8-07FB1DC2F4CF}"/>
              </a:ext>
            </a:extLst>
          </p:cNvPr>
          <p:cNvSpPr>
            <a:spLocks noGrp="1"/>
          </p:cNvSpPr>
          <p:nvPr/>
        </p:nvSpPr>
        <p:spPr>
          <a:xfrm>
            <a:off x="7677150" y="2590800"/>
            <a:ext cx="283845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Narration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5D9ABF0-00E7-41D6-9C3F-34E021E7913F}"/>
              </a:ext>
            </a:extLst>
          </p:cNvPr>
          <p:cNvSpPr>
            <a:spLocks noGrp="1"/>
          </p:cNvSpPr>
          <p:nvPr/>
        </p:nvSpPr>
        <p:spPr>
          <a:xfrm>
            <a:off x="7677150" y="2876550"/>
            <a:ext cx="2838450" cy="2495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650" b="1">
                <a:solidFill>
                  <a:srgbClr val="245447"/>
                </a:solidFill>
                <a:latin typeface="Avenir Next"/>
                <a:ea typeface="Avenir Next"/>
                <a:cs typeface="Avenir Next"/>
              </a:defRPr>
            </a:pPr>
            <a:r>
              <a:t>Explain why you did things, not just what happened.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2A37A7E-3837-49FC-868C-B9A058BF889E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05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FA3EFC5-A1F9-44B8-B7F0-13138718835D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382250" cy="14288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60701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10EDC463-6334-4BD5-B5D9-640C9D4C7E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295AECD-3329-4901-B58D-985319CECC5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FB840ED5-234D-4FF4-AEB2-2E5A4E0F8033}"/>
              </a:ext>
            </a:extLst>
          </p:cNvPr>
          <p:cNvSpPr>
            <a:spLocks noGrp="1"/>
          </p:cNvSpPr>
          <p:nvPr/>
        </p:nvSpPr>
        <p:spPr>
          <a:xfrm>
            <a:off x="695325" y="485775"/>
            <a:ext cx="228600" cy="228600"/>
          </a:xfrm>
          <a:prstGeom prst="ellipse">
            <a:avLst/>
          </a:prstGeom>
          <a:solidFill>
            <a:srgbClr val="245447"/>
          </a:solidFill>
          <a:ln w="12383">
            <a:solidFill>
              <a:srgbClr val="F4E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AC0C69C-FF6B-4393-949A-65356E00979B}"/>
              </a:ext>
            </a:extLst>
          </p:cNvPr>
          <p:cNvSpPr>
            <a:spLocks noGrp="1"/>
          </p:cNvSpPr>
          <p:nvPr/>
        </p:nvSpPr>
        <p:spPr>
          <a:xfrm>
            <a:off x="771525" y="590550"/>
            <a:ext cx="171450" cy="9525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766C344-8924-449D-8D42-45A3F220F612}"/>
              </a:ext>
            </a:extLst>
          </p:cNvPr>
          <p:cNvSpPr>
            <a:spLocks noGrp="1"/>
          </p:cNvSpPr>
          <p:nvPr/>
        </p:nvSpPr>
        <p:spPr>
          <a:xfrm>
            <a:off x="10668000" y="457200"/>
            <a:ext cx="81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267B443-FBDC-4223-898E-171E6CC3996F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934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Results &amp;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9623325-7B42-49E3-AABD-42E2A55CA85E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7429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Fill out what you can. Estimates and directional data are acceptable; emphasis is on learning.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DF2281-1F29-42E3-9D6A-F195BF27A15E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2952750" cy="400050"/>
          </a:xfrm>
          <a:prstGeom prst="rect">
            <a:avLst/>
          </a:prstGeom>
          <a:solidFill>
            <a:srgbClr val="24544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6F4D9C2-026E-4ED4-8073-CDA24F4F1E07}"/>
              </a:ext>
            </a:extLst>
          </p:cNvPr>
          <p:cNvSpPr>
            <a:spLocks noGrp="1"/>
          </p:cNvSpPr>
          <p:nvPr/>
        </p:nvSpPr>
        <p:spPr>
          <a:xfrm>
            <a:off x="695325" y="2476500"/>
            <a:ext cx="27813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Dimension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189EDB5-AC37-4A43-A1BE-FF16133E2FA5}"/>
              </a:ext>
            </a:extLst>
          </p:cNvPr>
          <p:cNvSpPr>
            <a:spLocks noGrp="1"/>
          </p:cNvSpPr>
          <p:nvPr/>
        </p:nvSpPr>
        <p:spPr>
          <a:xfrm>
            <a:off x="3562350" y="2400300"/>
            <a:ext cx="2428875" cy="400050"/>
          </a:xfrm>
          <a:prstGeom prst="rect">
            <a:avLst/>
          </a:prstGeom>
          <a:solidFill>
            <a:srgbClr val="24544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77A4234-3220-4C4D-8222-662518D0E7F4}"/>
              </a:ext>
            </a:extLst>
          </p:cNvPr>
          <p:cNvSpPr>
            <a:spLocks noGrp="1"/>
          </p:cNvSpPr>
          <p:nvPr/>
        </p:nvSpPr>
        <p:spPr>
          <a:xfrm>
            <a:off x="3648075" y="2476500"/>
            <a:ext cx="22574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Traditional Approach (Baseline)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A067AE9-3222-427D-B9E6-CC73AF0BE745}"/>
              </a:ext>
            </a:extLst>
          </p:cNvPr>
          <p:cNvSpPr>
            <a:spLocks noGrp="1"/>
          </p:cNvSpPr>
          <p:nvPr/>
        </p:nvSpPr>
        <p:spPr>
          <a:xfrm>
            <a:off x="5991225" y="2400300"/>
            <a:ext cx="2428875" cy="400050"/>
          </a:xfrm>
          <a:prstGeom prst="rect">
            <a:avLst/>
          </a:prstGeom>
          <a:solidFill>
            <a:srgbClr val="24544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6F902E-59A8-49BA-A798-878781922D62}"/>
              </a:ext>
            </a:extLst>
          </p:cNvPr>
          <p:cNvSpPr>
            <a:spLocks noGrp="1"/>
          </p:cNvSpPr>
          <p:nvPr/>
        </p:nvSpPr>
        <p:spPr>
          <a:xfrm>
            <a:off x="6076950" y="2476500"/>
            <a:ext cx="2257425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AI-Assisted Approach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8B5B9A-41CF-42DB-8F77-5B636B6B4562}"/>
              </a:ext>
            </a:extLst>
          </p:cNvPr>
          <p:cNvSpPr>
            <a:spLocks noGrp="1"/>
          </p:cNvSpPr>
          <p:nvPr/>
        </p:nvSpPr>
        <p:spPr>
          <a:xfrm>
            <a:off x="8420100" y="2400300"/>
            <a:ext cx="2762250" cy="400050"/>
          </a:xfrm>
          <a:prstGeom prst="rect">
            <a:avLst/>
          </a:prstGeom>
          <a:solidFill>
            <a:srgbClr val="24544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C6F9CBA-E6FC-46E2-B759-C1429DBD4C7D}"/>
              </a:ext>
            </a:extLst>
          </p:cNvPr>
          <p:cNvSpPr>
            <a:spLocks noGrp="1"/>
          </p:cNvSpPr>
          <p:nvPr/>
        </p:nvSpPr>
        <p:spPr>
          <a:xfrm>
            <a:off x="8505825" y="2476500"/>
            <a:ext cx="2590800" cy="2857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t>Notes / Observations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35229EB-409F-4447-8226-F4B1B037BEF9}"/>
              </a:ext>
            </a:extLst>
          </p:cNvPr>
          <p:cNvSpPr>
            <a:spLocks noGrp="1"/>
          </p:cNvSpPr>
          <p:nvPr/>
        </p:nvSpPr>
        <p:spPr>
          <a:xfrm>
            <a:off x="609600" y="2800350"/>
            <a:ext cx="2952750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587CABB-9309-4DA3-AE9C-23B4BC12693D}"/>
              </a:ext>
            </a:extLst>
          </p:cNvPr>
          <p:cNvSpPr>
            <a:spLocks noGrp="1"/>
          </p:cNvSpPr>
          <p:nvPr/>
        </p:nvSpPr>
        <p:spPr>
          <a:xfrm>
            <a:off x="695325" y="28765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Time to First Working Output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175378-510C-4E4B-9184-5470F2749B8F}"/>
              </a:ext>
            </a:extLst>
          </p:cNvPr>
          <p:cNvSpPr>
            <a:spLocks noGrp="1"/>
          </p:cNvSpPr>
          <p:nvPr/>
        </p:nvSpPr>
        <p:spPr>
          <a:xfrm>
            <a:off x="3562350" y="2800350"/>
            <a:ext cx="2428875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4FBAC36-0D00-4245-B1EB-842181A745F3}"/>
              </a:ext>
            </a:extLst>
          </p:cNvPr>
          <p:cNvSpPr>
            <a:spLocks noGrp="1"/>
          </p:cNvSpPr>
          <p:nvPr/>
        </p:nvSpPr>
        <p:spPr>
          <a:xfrm>
            <a:off x="3648075" y="28765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D8696440-D3CB-4997-B2EE-8389F16BB643}"/>
              </a:ext>
            </a:extLst>
          </p:cNvPr>
          <p:cNvSpPr>
            <a:spLocks noGrp="1"/>
          </p:cNvSpPr>
          <p:nvPr/>
        </p:nvSpPr>
        <p:spPr>
          <a:xfrm>
            <a:off x="5991225" y="2800350"/>
            <a:ext cx="2428875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95DD135-D41B-459F-8C7D-3B6F51D335B5}"/>
              </a:ext>
            </a:extLst>
          </p:cNvPr>
          <p:cNvSpPr>
            <a:spLocks noGrp="1"/>
          </p:cNvSpPr>
          <p:nvPr/>
        </p:nvSpPr>
        <p:spPr>
          <a:xfrm>
            <a:off x="6076950" y="28765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308123C-707D-4DAD-A00E-84DF927E533D}"/>
              </a:ext>
            </a:extLst>
          </p:cNvPr>
          <p:cNvSpPr>
            <a:spLocks noGrp="1"/>
          </p:cNvSpPr>
          <p:nvPr/>
        </p:nvSpPr>
        <p:spPr>
          <a:xfrm>
            <a:off x="8420100" y="2800350"/>
            <a:ext cx="2762250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B4F9640-6EBA-41DC-B33B-C6A8090A3666}"/>
              </a:ext>
            </a:extLst>
          </p:cNvPr>
          <p:cNvSpPr>
            <a:spLocks noGrp="1"/>
          </p:cNvSpPr>
          <p:nvPr/>
        </p:nvSpPr>
        <p:spPr>
          <a:xfrm>
            <a:off x="8505825" y="28765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0FE54D-8CC8-4F49-B07A-DC06ECFDD242}"/>
              </a:ext>
            </a:extLst>
          </p:cNvPr>
          <p:cNvSpPr>
            <a:spLocks noGrp="1"/>
          </p:cNvSpPr>
          <p:nvPr/>
        </p:nvSpPr>
        <p:spPr>
          <a:xfrm>
            <a:off x="609600" y="3143250"/>
            <a:ext cx="2952750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617E78D-55E7-4713-B719-53136CBD19A7}"/>
              </a:ext>
            </a:extLst>
          </p:cNvPr>
          <p:cNvSpPr>
            <a:spLocks noGrp="1"/>
          </p:cNvSpPr>
          <p:nvPr/>
        </p:nvSpPr>
        <p:spPr>
          <a:xfrm>
            <a:off x="695325" y="32194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Iteration Speed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DB3A758-00DF-4438-A56C-0C5FDF79E33F}"/>
              </a:ext>
            </a:extLst>
          </p:cNvPr>
          <p:cNvSpPr>
            <a:spLocks noGrp="1"/>
          </p:cNvSpPr>
          <p:nvPr/>
        </p:nvSpPr>
        <p:spPr>
          <a:xfrm>
            <a:off x="3562350" y="3143250"/>
            <a:ext cx="2428875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19613AD-023B-4A53-A8EC-C70BA363C9AB}"/>
              </a:ext>
            </a:extLst>
          </p:cNvPr>
          <p:cNvSpPr>
            <a:spLocks noGrp="1"/>
          </p:cNvSpPr>
          <p:nvPr/>
        </p:nvSpPr>
        <p:spPr>
          <a:xfrm>
            <a:off x="3648075" y="32194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AC72179A-09D9-4071-8447-2E186280C407}"/>
              </a:ext>
            </a:extLst>
          </p:cNvPr>
          <p:cNvSpPr>
            <a:spLocks noGrp="1"/>
          </p:cNvSpPr>
          <p:nvPr/>
        </p:nvSpPr>
        <p:spPr>
          <a:xfrm>
            <a:off x="5991225" y="3143250"/>
            <a:ext cx="2428875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CA03CFB-18A6-46BF-93B5-E6EEB286273F}"/>
              </a:ext>
            </a:extLst>
          </p:cNvPr>
          <p:cNvSpPr>
            <a:spLocks noGrp="1"/>
          </p:cNvSpPr>
          <p:nvPr/>
        </p:nvSpPr>
        <p:spPr>
          <a:xfrm>
            <a:off x="6076950" y="32194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7044545-B714-4DC1-A744-5A185883EDB6}"/>
              </a:ext>
            </a:extLst>
          </p:cNvPr>
          <p:cNvSpPr>
            <a:spLocks noGrp="1"/>
          </p:cNvSpPr>
          <p:nvPr/>
        </p:nvSpPr>
        <p:spPr>
          <a:xfrm>
            <a:off x="8420100" y="3143250"/>
            <a:ext cx="2762250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28EF2CF8-77DB-476F-8745-607CBEB662F3}"/>
              </a:ext>
            </a:extLst>
          </p:cNvPr>
          <p:cNvSpPr>
            <a:spLocks noGrp="1"/>
          </p:cNvSpPr>
          <p:nvPr/>
        </p:nvSpPr>
        <p:spPr>
          <a:xfrm>
            <a:off x="8505825" y="32194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89CE49A-3C95-4EE4-B735-CD01A9BB01EE}"/>
              </a:ext>
            </a:extLst>
          </p:cNvPr>
          <p:cNvSpPr>
            <a:spLocks noGrp="1"/>
          </p:cNvSpPr>
          <p:nvPr/>
        </p:nvSpPr>
        <p:spPr>
          <a:xfrm>
            <a:off x="609600" y="3486150"/>
            <a:ext cx="2952750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A82E2F8-B16E-4167-8E64-0D63F6D81700}"/>
              </a:ext>
            </a:extLst>
          </p:cNvPr>
          <p:cNvSpPr>
            <a:spLocks noGrp="1"/>
          </p:cNvSpPr>
          <p:nvPr/>
        </p:nvSpPr>
        <p:spPr>
          <a:xfrm>
            <a:off x="695325" y="35623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Cognitive Load on Dev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B7C9AF0C-1425-4157-8370-3AB05E504302}"/>
              </a:ext>
            </a:extLst>
          </p:cNvPr>
          <p:cNvSpPr>
            <a:spLocks noGrp="1"/>
          </p:cNvSpPr>
          <p:nvPr/>
        </p:nvSpPr>
        <p:spPr>
          <a:xfrm>
            <a:off x="3562350" y="3486150"/>
            <a:ext cx="2428875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8255B6A-3BF5-4BBF-84AF-7C442FFB81A6}"/>
              </a:ext>
            </a:extLst>
          </p:cNvPr>
          <p:cNvSpPr>
            <a:spLocks noGrp="1"/>
          </p:cNvSpPr>
          <p:nvPr/>
        </p:nvSpPr>
        <p:spPr>
          <a:xfrm>
            <a:off x="3648075" y="35623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BF0708F-9C4A-4728-BD81-2A18A896177A}"/>
              </a:ext>
            </a:extLst>
          </p:cNvPr>
          <p:cNvSpPr>
            <a:spLocks noGrp="1"/>
          </p:cNvSpPr>
          <p:nvPr/>
        </p:nvSpPr>
        <p:spPr>
          <a:xfrm>
            <a:off x="5991225" y="3486150"/>
            <a:ext cx="2428875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A3642D-14AD-4ED4-B565-C97BBF371AAD}"/>
              </a:ext>
            </a:extLst>
          </p:cNvPr>
          <p:cNvSpPr>
            <a:spLocks noGrp="1"/>
          </p:cNvSpPr>
          <p:nvPr/>
        </p:nvSpPr>
        <p:spPr>
          <a:xfrm>
            <a:off x="6076950" y="35623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F15CDEF1-2DF9-4534-851F-05B06F1000F9}"/>
              </a:ext>
            </a:extLst>
          </p:cNvPr>
          <p:cNvSpPr>
            <a:spLocks noGrp="1"/>
          </p:cNvSpPr>
          <p:nvPr/>
        </p:nvSpPr>
        <p:spPr>
          <a:xfrm>
            <a:off x="8420100" y="3486150"/>
            <a:ext cx="2762250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86A6B7E-0FF9-4190-BBC7-64F16B238A64}"/>
              </a:ext>
            </a:extLst>
          </p:cNvPr>
          <p:cNvSpPr>
            <a:spLocks noGrp="1"/>
          </p:cNvSpPr>
          <p:nvPr/>
        </p:nvSpPr>
        <p:spPr>
          <a:xfrm>
            <a:off x="8505825" y="35623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474CB68-09E5-4DB2-AB0C-602F22E9F0EC}"/>
              </a:ext>
            </a:extLst>
          </p:cNvPr>
          <p:cNvSpPr>
            <a:spLocks noGrp="1"/>
          </p:cNvSpPr>
          <p:nvPr/>
        </p:nvSpPr>
        <p:spPr>
          <a:xfrm>
            <a:off x="609600" y="3829050"/>
            <a:ext cx="2952750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91FEA5E-CE95-4F37-AE8C-399C9BA54AC7}"/>
              </a:ext>
            </a:extLst>
          </p:cNvPr>
          <p:cNvSpPr>
            <a:spLocks noGrp="1"/>
          </p:cNvSpPr>
          <p:nvPr/>
        </p:nvSpPr>
        <p:spPr>
          <a:xfrm>
            <a:off x="695325" y="39052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Quality Confidence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025D74F-B248-4C1C-9C75-75C79C81A8DE}"/>
              </a:ext>
            </a:extLst>
          </p:cNvPr>
          <p:cNvSpPr>
            <a:spLocks noGrp="1"/>
          </p:cNvSpPr>
          <p:nvPr/>
        </p:nvSpPr>
        <p:spPr>
          <a:xfrm>
            <a:off x="3562350" y="3829050"/>
            <a:ext cx="2428875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D582790C-2066-4354-A99A-4F89392288C7}"/>
              </a:ext>
            </a:extLst>
          </p:cNvPr>
          <p:cNvSpPr>
            <a:spLocks noGrp="1"/>
          </p:cNvSpPr>
          <p:nvPr/>
        </p:nvSpPr>
        <p:spPr>
          <a:xfrm>
            <a:off x="3648075" y="39052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BE30912-5556-4706-BD88-3C421BA85DCD}"/>
              </a:ext>
            </a:extLst>
          </p:cNvPr>
          <p:cNvSpPr>
            <a:spLocks noGrp="1"/>
          </p:cNvSpPr>
          <p:nvPr/>
        </p:nvSpPr>
        <p:spPr>
          <a:xfrm>
            <a:off x="5991225" y="3829050"/>
            <a:ext cx="2428875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ECD9AD3-2432-4F6F-BBD0-F9253DFB8984}"/>
              </a:ext>
            </a:extLst>
          </p:cNvPr>
          <p:cNvSpPr>
            <a:spLocks noGrp="1"/>
          </p:cNvSpPr>
          <p:nvPr/>
        </p:nvSpPr>
        <p:spPr>
          <a:xfrm>
            <a:off x="6076950" y="39052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10D27231-5C43-4B6B-8A64-DD7A782E6CF7}"/>
              </a:ext>
            </a:extLst>
          </p:cNvPr>
          <p:cNvSpPr>
            <a:spLocks noGrp="1"/>
          </p:cNvSpPr>
          <p:nvPr/>
        </p:nvSpPr>
        <p:spPr>
          <a:xfrm>
            <a:off x="8420100" y="3829050"/>
            <a:ext cx="2762250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6EAC609-5120-435B-BAAC-07D4558A311B}"/>
              </a:ext>
            </a:extLst>
          </p:cNvPr>
          <p:cNvSpPr>
            <a:spLocks noGrp="1"/>
          </p:cNvSpPr>
          <p:nvPr/>
        </p:nvSpPr>
        <p:spPr>
          <a:xfrm>
            <a:off x="8505825" y="39052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0E1EC027-D15E-4DFF-A4EC-65405B1928C2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2952750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E1F4998D-49CF-43AA-BF36-E26ABFD4A0A5}"/>
              </a:ext>
            </a:extLst>
          </p:cNvPr>
          <p:cNvSpPr>
            <a:spLocks noGrp="1"/>
          </p:cNvSpPr>
          <p:nvPr/>
        </p:nvSpPr>
        <p:spPr>
          <a:xfrm>
            <a:off x="695325" y="42481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Number of Re-writes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AEC3DC3E-6AE8-4D2D-850D-02EF611AAF6E}"/>
              </a:ext>
            </a:extLst>
          </p:cNvPr>
          <p:cNvSpPr>
            <a:spLocks noGrp="1"/>
          </p:cNvSpPr>
          <p:nvPr/>
        </p:nvSpPr>
        <p:spPr>
          <a:xfrm>
            <a:off x="3562350" y="4171950"/>
            <a:ext cx="2428875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B6782E5-FEBC-401A-8E54-2FB1BD36E759}"/>
              </a:ext>
            </a:extLst>
          </p:cNvPr>
          <p:cNvSpPr>
            <a:spLocks noGrp="1"/>
          </p:cNvSpPr>
          <p:nvPr/>
        </p:nvSpPr>
        <p:spPr>
          <a:xfrm>
            <a:off x="3648075" y="42481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B7B184C9-E2A8-4A57-9F55-50F497D72222}"/>
              </a:ext>
            </a:extLst>
          </p:cNvPr>
          <p:cNvSpPr>
            <a:spLocks noGrp="1"/>
          </p:cNvSpPr>
          <p:nvPr/>
        </p:nvSpPr>
        <p:spPr>
          <a:xfrm>
            <a:off x="5991225" y="4171950"/>
            <a:ext cx="2428875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8C1651E3-B972-48FD-96AB-BE88A73A058A}"/>
              </a:ext>
            </a:extLst>
          </p:cNvPr>
          <p:cNvSpPr>
            <a:spLocks noGrp="1"/>
          </p:cNvSpPr>
          <p:nvPr/>
        </p:nvSpPr>
        <p:spPr>
          <a:xfrm>
            <a:off x="6076950" y="42481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C3F72AFF-2933-4E5F-B802-522F9C4F0241}"/>
              </a:ext>
            </a:extLst>
          </p:cNvPr>
          <p:cNvSpPr>
            <a:spLocks noGrp="1"/>
          </p:cNvSpPr>
          <p:nvPr/>
        </p:nvSpPr>
        <p:spPr>
          <a:xfrm>
            <a:off x="8420100" y="4171950"/>
            <a:ext cx="2762250" cy="3429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3858C19-AC4D-4BDD-884A-044BBC6A29A3}"/>
              </a:ext>
            </a:extLst>
          </p:cNvPr>
          <p:cNvSpPr>
            <a:spLocks noGrp="1"/>
          </p:cNvSpPr>
          <p:nvPr/>
        </p:nvSpPr>
        <p:spPr>
          <a:xfrm>
            <a:off x="8505825" y="42481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8B447213-29DD-49B4-826F-11F32D03F4B4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2952750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B7CC5FB0-217A-4595-9E3C-81572A469320}"/>
              </a:ext>
            </a:extLst>
          </p:cNvPr>
          <p:cNvSpPr>
            <a:spLocks noGrp="1"/>
          </p:cNvSpPr>
          <p:nvPr/>
        </p:nvSpPr>
        <p:spPr>
          <a:xfrm>
            <a:off x="695325" y="4591050"/>
            <a:ext cx="27813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Human Effort Focused On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00CA018C-C4F1-4450-8EA3-C1595E26D888}"/>
              </a:ext>
            </a:extLst>
          </p:cNvPr>
          <p:cNvSpPr>
            <a:spLocks noGrp="1"/>
          </p:cNvSpPr>
          <p:nvPr/>
        </p:nvSpPr>
        <p:spPr>
          <a:xfrm>
            <a:off x="3562350" y="4514850"/>
            <a:ext cx="2428875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0C144824-3D5F-4CDE-9AAF-9C76C85F042C}"/>
              </a:ext>
            </a:extLst>
          </p:cNvPr>
          <p:cNvSpPr>
            <a:spLocks noGrp="1"/>
          </p:cNvSpPr>
          <p:nvPr/>
        </p:nvSpPr>
        <p:spPr>
          <a:xfrm>
            <a:off x="3648075" y="45910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BD467D0-1F98-49CE-B87D-41AFAEEB787B}"/>
              </a:ext>
            </a:extLst>
          </p:cNvPr>
          <p:cNvSpPr>
            <a:spLocks noGrp="1"/>
          </p:cNvSpPr>
          <p:nvPr/>
        </p:nvSpPr>
        <p:spPr>
          <a:xfrm>
            <a:off x="5991225" y="4514850"/>
            <a:ext cx="2428875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4F6EB19-026A-4C44-BB74-AF2B970F9E9B}"/>
              </a:ext>
            </a:extLst>
          </p:cNvPr>
          <p:cNvSpPr>
            <a:spLocks noGrp="1"/>
          </p:cNvSpPr>
          <p:nvPr/>
        </p:nvSpPr>
        <p:spPr>
          <a:xfrm>
            <a:off x="6076950" y="4591050"/>
            <a:ext cx="2257425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46E6F8A1-512C-4F6B-81E2-0BA1ECDDC683}"/>
              </a:ext>
            </a:extLst>
          </p:cNvPr>
          <p:cNvSpPr>
            <a:spLocks noGrp="1"/>
          </p:cNvSpPr>
          <p:nvPr/>
        </p:nvSpPr>
        <p:spPr>
          <a:xfrm>
            <a:off x="8420100" y="4514850"/>
            <a:ext cx="2762250" cy="342900"/>
          </a:xfrm>
          <a:prstGeom prst="rect">
            <a:avLst/>
          </a:prstGeom>
          <a:solidFill>
            <a:srgbClr val="FBFAF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0757ECCA-1E46-4D65-8ED7-1C3D62C52BDE}"/>
              </a:ext>
            </a:extLst>
          </p:cNvPr>
          <p:cNvSpPr>
            <a:spLocks noGrp="1"/>
          </p:cNvSpPr>
          <p:nvPr/>
        </p:nvSpPr>
        <p:spPr>
          <a:xfrm>
            <a:off x="8505825" y="4591050"/>
            <a:ext cx="2590800" cy="228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EF23383-D55C-4CF3-B43E-06132F992234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2952750" cy="4572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5CBCAB8-D188-4126-BC08-13E2DBF9E338}"/>
              </a:ext>
            </a:extLst>
          </p:cNvPr>
          <p:cNvSpPr>
            <a:spLocks noGrp="1"/>
          </p:cNvSpPr>
          <p:nvPr/>
        </p:nvSpPr>
        <p:spPr>
          <a:xfrm>
            <a:off x="695325" y="4933950"/>
            <a:ext cx="27813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Unexpected Outcomes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DBA83D2-AEA0-4011-AE68-654BAB243175}"/>
              </a:ext>
            </a:extLst>
          </p:cNvPr>
          <p:cNvSpPr>
            <a:spLocks noGrp="1"/>
          </p:cNvSpPr>
          <p:nvPr/>
        </p:nvSpPr>
        <p:spPr>
          <a:xfrm>
            <a:off x="3562350" y="4857750"/>
            <a:ext cx="2428875" cy="4572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99B003A-19E6-4210-81EC-A9C55CE8B366}"/>
              </a:ext>
            </a:extLst>
          </p:cNvPr>
          <p:cNvSpPr>
            <a:spLocks noGrp="1"/>
          </p:cNvSpPr>
          <p:nvPr/>
        </p:nvSpPr>
        <p:spPr>
          <a:xfrm>
            <a:off x="3648075" y="4933950"/>
            <a:ext cx="22574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N/A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A14B800-F9C5-424B-B9E0-A96336C05051}"/>
              </a:ext>
            </a:extLst>
          </p:cNvPr>
          <p:cNvSpPr>
            <a:spLocks noGrp="1"/>
          </p:cNvSpPr>
          <p:nvPr/>
        </p:nvSpPr>
        <p:spPr>
          <a:xfrm>
            <a:off x="5991225" y="4857750"/>
            <a:ext cx="2428875" cy="4572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3BE61D0E-1C80-4420-B3C3-73F1660344D2}"/>
              </a:ext>
            </a:extLst>
          </p:cNvPr>
          <p:cNvSpPr>
            <a:spLocks noGrp="1"/>
          </p:cNvSpPr>
          <p:nvPr/>
        </p:nvSpPr>
        <p:spPr>
          <a:xfrm>
            <a:off x="6076950" y="4933950"/>
            <a:ext cx="2257425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08D7BC8-0598-4D42-A5EC-F84784854467}"/>
              </a:ext>
            </a:extLst>
          </p:cNvPr>
          <p:cNvSpPr>
            <a:spLocks noGrp="1"/>
          </p:cNvSpPr>
          <p:nvPr/>
        </p:nvSpPr>
        <p:spPr>
          <a:xfrm>
            <a:off x="8420100" y="4857750"/>
            <a:ext cx="2762250" cy="457200"/>
          </a:xfrm>
          <a:prstGeom prst="rect">
            <a:avLst/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B260665C-5A61-4F96-8AA9-510243240073}"/>
              </a:ext>
            </a:extLst>
          </p:cNvPr>
          <p:cNvSpPr>
            <a:spLocks noGrp="1"/>
          </p:cNvSpPr>
          <p:nvPr/>
        </p:nvSpPr>
        <p:spPr>
          <a:xfrm>
            <a:off x="8505825" y="4933950"/>
            <a:ext cx="2590800" cy="342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788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endParaRPr/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C5211DC5-5927-426E-8157-0DD92A048585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06</a:t>
            </a:r>
          </a:p>
        </p:txBody>
      </p:sp>
      <p:sp>
        <p:nvSpPr>
          <p:cNvPr id="74" name="Rectangle 73">
            <a:extLst>
              <a:ext uri="{FF2B5EF4-FFF2-40B4-BE49-F238E27FC236}">
                <a16:creationId xmlns:a16="http://schemas.microsoft.com/office/drawing/2014/main" id="{FA0ECEC9-AE64-4315-BD06-845E65CE4DAE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382250" cy="14288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081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BCF7A2B-51F1-48C6-97AF-4906A496E15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A5ECF384-3EC9-49C8-9479-8AB9667F1BA7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14E4B68E-D97E-482F-A028-EC5295B251C0}"/>
              </a:ext>
            </a:extLst>
          </p:cNvPr>
          <p:cNvSpPr>
            <a:spLocks noGrp="1"/>
          </p:cNvSpPr>
          <p:nvPr/>
        </p:nvSpPr>
        <p:spPr>
          <a:xfrm>
            <a:off x="695325" y="485775"/>
            <a:ext cx="228600" cy="228600"/>
          </a:xfrm>
          <a:prstGeom prst="ellipse">
            <a:avLst/>
          </a:prstGeom>
          <a:solidFill>
            <a:srgbClr val="245447"/>
          </a:solidFill>
          <a:ln w="12383">
            <a:solidFill>
              <a:srgbClr val="F4E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AE0E795-8A3C-47D8-A5C1-4516D3400EBE}"/>
              </a:ext>
            </a:extLst>
          </p:cNvPr>
          <p:cNvSpPr>
            <a:spLocks noGrp="1"/>
          </p:cNvSpPr>
          <p:nvPr/>
        </p:nvSpPr>
        <p:spPr>
          <a:xfrm>
            <a:off x="771525" y="590550"/>
            <a:ext cx="171450" cy="9525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8B9C04E-2A8A-454B-B49A-0D565A5F83CC}"/>
              </a:ext>
            </a:extLst>
          </p:cNvPr>
          <p:cNvSpPr>
            <a:spLocks noGrp="1"/>
          </p:cNvSpPr>
          <p:nvPr/>
        </p:nvSpPr>
        <p:spPr>
          <a:xfrm>
            <a:off x="10668000" y="457200"/>
            <a:ext cx="81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07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98C7DE-443A-4803-8C20-8611AB2FA801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934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What We Learned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DF99C0-54F6-490C-9A79-1D1A5F360EA2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Answer explicitly, then tie it back to engineering judgment and validation over blind trust.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B4D6732-C5E6-4575-B5FD-BDA40FE3F94A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24765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52E16BE-CB31-4604-AD44-D5A4C2E779A5}"/>
              </a:ext>
            </a:extLst>
          </p:cNvPr>
          <p:cNvSpPr>
            <a:spLocks noGrp="1"/>
          </p:cNvSpPr>
          <p:nvPr/>
        </p:nvSpPr>
        <p:spPr>
          <a:xfrm>
            <a:off x="819150" y="25527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Surprised 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CC2FD55-3D6F-4A3E-A9F9-764F307EE42F}"/>
              </a:ext>
            </a:extLst>
          </p:cNvPr>
          <p:cNvSpPr>
            <a:spLocks noGrp="1"/>
          </p:cNvSpPr>
          <p:nvPr/>
        </p:nvSpPr>
        <p:spPr>
          <a:xfrm>
            <a:off x="819150" y="2838450"/>
            <a:ext cx="2057400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What surprised the team?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5DB28C76-6C86-4F7D-B603-E87EBA51E0DB}"/>
              </a:ext>
            </a:extLst>
          </p:cNvPr>
          <p:cNvSpPr>
            <a:spLocks noGrp="1"/>
          </p:cNvSpPr>
          <p:nvPr/>
        </p:nvSpPr>
        <p:spPr>
          <a:xfrm>
            <a:off x="3429000" y="2381250"/>
            <a:ext cx="24765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A480DF1-F472-4A94-B804-01E7B9323CFA}"/>
              </a:ext>
            </a:extLst>
          </p:cNvPr>
          <p:cNvSpPr>
            <a:spLocks noGrp="1"/>
          </p:cNvSpPr>
          <p:nvPr/>
        </p:nvSpPr>
        <p:spPr>
          <a:xfrm>
            <a:off x="3638550" y="25527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Wrong assumptions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3C1A103-CCDF-4CDA-9894-B31CC926B779}"/>
              </a:ext>
            </a:extLst>
          </p:cNvPr>
          <p:cNvSpPr>
            <a:spLocks noGrp="1"/>
          </p:cNvSpPr>
          <p:nvPr/>
        </p:nvSpPr>
        <p:spPr>
          <a:xfrm>
            <a:off x="3638550" y="2838450"/>
            <a:ext cx="2057400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What did you assume that turned out to be wrong?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012E528-B4EF-4090-A9F9-47F766FD8BDC}"/>
              </a:ext>
            </a:extLst>
          </p:cNvPr>
          <p:cNvSpPr>
            <a:spLocks noGrp="1"/>
          </p:cNvSpPr>
          <p:nvPr/>
        </p:nvSpPr>
        <p:spPr>
          <a:xfrm>
            <a:off x="6248400" y="2381250"/>
            <a:ext cx="24765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25D597-9801-4657-83F5-A53586FF93F1}"/>
              </a:ext>
            </a:extLst>
          </p:cNvPr>
          <p:cNvSpPr>
            <a:spLocks noGrp="1"/>
          </p:cNvSpPr>
          <p:nvPr/>
        </p:nvSpPr>
        <p:spPr>
          <a:xfrm>
            <a:off x="6457950" y="25527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AI was strong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646BE2E-5BF2-45D9-8187-ED4B8CD67677}"/>
              </a:ext>
            </a:extLst>
          </p:cNvPr>
          <p:cNvSpPr>
            <a:spLocks noGrp="1"/>
          </p:cNvSpPr>
          <p:nvPr/>
        </p:nvSpPr>
        <p:spPr>
          <a:xfrm>
            <a:off x="6457950" y="2838450"/>
            <a:ext cx="2057400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Where did AI perform better than expected?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F0A1E1A-FADB-4DC4-BE00-1CD6DC2B708F}"/>
              </a:ext>
            </a:extLst>
          </p:cNvPr>
          <p:cNvSpPr>
            <a:spLocks noGrp="1"/>
          </p:cNvSpPr>
          <p:nvPr/>
        </p:nvSpPr>
        <p:spPr>
          <a:xfrm>
            <a:off x="9067800" y="2381250"/>
            <a:ext cx="2476500" cy="23622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3B7633F-C60C-49E3-BCCB-C197A261564A}"/>
              </a:ext>
            </a:extLst>
          </p:cNvPr>
          <p:cNvSpPr>
            <a:spLocks noGrp="1"/>
          </p:cNvSpPr>
          <p:nvPr/>
        </p:nvSpPr>
        <p:spPr>
          <a:xfrm>
            <a:off x="9277350" y="25527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AI struggled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03EF65D-D3FD-44B8-A3F0-FCC7236E2F49}"/>
              </a:ext>
            </a:extLst>
          </p:cNvPr>
          <p:cNvSpPr>
            <a:spLocks noGrp="1"/>
          </p:cNvSpPr>
          <p:nvPr/>
        </p:nvSpPr>
        <p:spPr>
          <a:xfrm>
            <a:off x="9277350" y="2838450"/>
            <a:ext cx="2057400" cy="175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Where did it need human judgment or correction?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B6496E0-CD76-47CC-9B32-0A5B7F498BC7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07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1E3E23-6EDB-44CE-959B-0594115EC120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382250" cy="14288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035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90D04F6A-6FD6-48EB-9B0C-26617A1CF6D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5CAC101-408F-4C61-9363-6B46B5A9C556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5C30DE79-583E-4076-9BF9-E8982CEF3DB5}"/>
              </a:ext>
            </a:extLst>
          </p:cNvPr>
          <p:cNvSpPr>
            <a:spLocks noGrp="1"/>
          </p:cNvSpPr>
          <p:nvPr/>
        </p:nvSpPr>
        <p:spPr>
          <a:xfrm>
            <a:off x="695325" y="485775"/>
            <a:ext cx="228600" cy="228600"/>
          </a:xfrm>
          <a:prstGeom prst="ellipse">
            <a:avLst/>
          </a:prstGeom>
          <a:solidFill>
            <a:srgbClr val="245447"/>
          </a:solidFill>
          <a:ln w="12383">
            <a:solidFill>
              <a:srgbClr val="F4E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CC17A4B-38F2-402B-AC0F-7C82C5F4C748}"/>
              </a:ext>
            </a:extLst>
          </p:cNvPr>
          <p:cNvSpPr>
            <a:spLocks noGrp="1"/>
          </p:cNvSpPr>
          <p:nvPr/>
        </p:nvSpPr>
        <p:spPr>
          <a:xfrm>
            <a:off x="771525" y="590550"/>
            <a:ext cx="171450" cy="9525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A317C1-A416-4CAC-A29C-0A989A988518}"/>
              </a:ext>
            </a:extLst>
          </p:cNvPr>
          <p:cNvSpPr>
            <a:spLocks noGrp="1"/>
          </p:cNvSpPr>
          <p:nvPr/>
        </p:nvSpPr>
        <p:spPr>
          <a:xfrm>
            <a:off x="10668000" y="457200"/>
            <a:ext cx="81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08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F24891C-A3A6-40C5-AE1B-CEC267150C57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934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What We'd Do Next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3A19C71-5E05-4C07-80DA-2229A21D3D41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If this continued, what would you improve, productionize, guardrail, or scale?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2A052AD-567F-4BCD-946E-4F59B04EC063}"/>
              </a:ext>
            </a:extLst>
          </p:cNvPr>
          <p:cNvSpPr>
            <a:spLocks noGrp="1"/>
          </p:cNvSpPr>
          <p:nvPr/>
        </p:nvSpPr>
        <p:spPr>
          <a:xfrm>
            <a:off x="762000" y="2381250"/>
            <a:ext cx="2476500" cy="2476500"/>
          </a:xfrm>
          <a:prstGeom prst="roundRect">
            <a:avLst>
              <a:gd name="adj" fmla="val 3077"/>
            </a:avLst>
          </a:prstGeom>
          <a:solidFill>
            <a:srgbClr val="DCEBE5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F18708-09F7-41E9-9526-2009A8AB3430}"/>
              </a:ext>
            </a:extLst>
          </p:cNvPr>
          <p:cNvSpPr>
            <a:spLocks noGrp="1"/>
          </p:cNvSpPr>
          <p:nvPr/>
        </p:nvSpPr>
        <p:spPr>
          <a:xfrm>
            <a:off x="971550" y="25527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Improve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CD60DE6-06FE-464D-BAD4-815AF767477E}"/>
              </a:ext>
            </a:extLst>
          </p:cNvPr>
          <p:cNvSpPr>
            <a:spLocks noGrp="1"/>
          </p:cNvSpPr>
          <p:nvPr/>
        </p:nvSpPr>
        <p:spPr>
          <a:xfrm>
            <a:off x="971550" y="2838450"/>
            <a:ext cx="205740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What would you sharpen or simplify first?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23A2745F-792E-4730-9700-CEFCDA23DA2F}"/>
              </a:ext>
            </a:extLst>
          </p:cNvPr>
          <p:cNvSpPr>
            <a:spLocks noGrp="1"/>
          </p:cNvSpPr>
          <p:nvPr/>
        </p:nvSpPr>
        <p:spPr>
          <a:xfrm>
            <a:off x="3562350" y="2381250"/>
            <a:ext cx="2476500" cy="2476500"/>
          </a:xfrm>
          <a:prstGeom prst="roundRect">
            <a:avLst>
              <a:gd name="adj" fmla="val 3077"/>
            </a:avLst>
          </a:prstGeom>
          <a:solidFill>
            <a:srgbClr val="F4EADC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3E1B133-1316-4895-9EC6-B7A9EA5B5688}"/>
              </a:ext>
            </a:extLst>
          </p:cNvPr>
          <p:cNvSpPr>
            <a:spLocks noGrp="1"/>
          </p:cNvSpPr>
          <p:nvPr/>
        </p:nvSpPr>
        <p:spPr>
          <a:xfrm>
            <a:off x="3771900" y="25527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Productionize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E4DF892-AF19-4708-B9F3-E9A76CA8585E}"/>
              </a:ext>
            </a:extLst>
          </p:cNvPr>
          <p:cNvSpPr>
            <a:spLocks noGrp="1"/>
          </p:cNvSpPr>
          <p:nvPr/>
        </p:nvSpPr>
        <p:spPr>
          <a:xfrm>
            <a:off x="3771900" y="2838450"/>
            <a:ext cx="205740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What would need to become real infrastructure or process?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CCF706B3-2423-472D-932C-99BE77A5F1DE}"/>
              </a:ext>
            </a:extLst>
          </p:cNvPr>
          <p:cNvSpPr>
            <a:spLocks noGrp="1"/>
          </p:cNvSpPr>
          <p:nvPr/>
        </p:nvSpPr>
        <p:spPr>
          <a:xfrm>
            <a:off x="6362700" y="2381250"/>
            <a:ext cx="2476500" cy="2476500"/>
          </a:xfrm>
          <a:prstGeom prst="roundRect">
            <a:avLst>
              <a:gd name="adj" fmla="val 3077"/>
            </a:avLst>
          </a:prstGeom>
          <a:solidFill>
            <a:srgbClr val="DCEBE5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30A9F62-B365-4E1A-91E6-05CA76B8CE11}"/>
              </a:ext>
            </a:extLst>
          </p:cNvPr>
          <p:cNvSpPr>
            <a:spLocks noGrp="1"/>
          </p:cNvSpPr>
          <p:nvPr/>
        </p:nvSpPr>
        <p:spPr>
          <a:xfrm>
            <a:off x="6572250" y="25527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Guardrails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41D70C-A244-450E-B97C-D8EEECD82D85}"/>
              </a:ext>
            </a:extLst>
          </p:cNvPr>
          <p:cNvSpPr>
            <a:spLocks noGrp="1"/>
          </p:cNvSpPr>
          <p:nvPr/>
        </p:nvSpPr>
        <p:spPr>
          <a:xfrm>
            <a:off x="6572250" y="2838450"/>
            <a:ext cx="205740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What controls, review loops, or boundaries would you add?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C0470E-D2B6-4386-95A4-CBD24D29C813}"/>
              </a:ext>
            </a:extLst>
          </p:cNvPr>
          <p:cNvSpPr>
            <a:spLocks noGrp="1"/>
          </p:cNvSpPr>
          <p:nvPr/>
        </p:nvSpPr>
        <p:spPr>
          <a:xfrm>
            <a:off x="9163050" y="2381250"/>
            <a:ext cx="2476500" cy="2476500"/>
          </a:xfrm>
          <a:prstGeom prst="roundRect">
            <a:avLst>
              <a:gd name="adj" fmla="val 3077"/>
            </a:avLst>
          </a:prstGeom>
          <a:solidFill>
            <a:srgbClr val="F4EADC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0AE7FB4-5CF3-4151-9052-CB6A202CEB4B}"/>
              </a:ext>
            </a:extLst>
          </p:cNvPr>
          <p:cNvSpPr>
            <a:spLocks noGrp="1"/>
          </p:cNvSpPr>
          <p:nvPr/>
        </p:nvSpPr>
        <p:spPr>
          <a:xfrm>
            <a:off x="9372600" y="2552700"/>
            <a:ext cx="2057400" cy="1905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8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Scale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9BC9381-EF0B-43E6-AC47-4CE38D48F80B}"/>
              </a:ext>
            </a:extLst>
          </p:cNvPr>
          <p:cNvSpPr>
            <a:spLocks noGrp="1"/>
          </p:cNvSpPr>
          <p:nvPr/>
        </p:nvSpPr>
        <p:spPr>
          <a:xfrm>
            <a:off x="9372600" y="2838450"/>
            <a:ext cx="2057400" cy="18669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How could this work across teams or clients?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979347A-8802-40D3-8C03-862D5B775823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08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84C46B3-F274-4F32-AA42-329CBE607CBB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382250" cy="14288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68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E734CB7F-5ABB-4495-8FD1-15751ED00C1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AF7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FBDB8DA-3E2D-4C8B-A0BC-4BF094EDAB42}"/>
              </a:ext>
            </a:extLst>
          </p:cNvPr>
          <p:cNvSpPr>
            <a:spLocks noGrp="1"/>
          </p:cNvSpPr>
          <p:nvPr/>
        </p:nvSpPr>
        <p:spPr>
          <a:xfrm>
            <a:off x="609600" y="400050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245447"/>
          </a:solidFill>
          <a:ln w="12383">
            <a:solidFill>
              <a:srgbClr val="24544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DCD3E76-EC63-4621-947D-535BDA3FCBA9}"/>
              </a:ext>
            </a:extLst>
          </p:cNvPr>
          <p:cNvSpPr>
            <a:spLocks noGrp="1"/>
          </p:cNvSpPr>
          <p:nvPr/>
        </p:nvSpPr>
        <p:spPr>
          <a:xfrm>
            <a:off x="695325" y="485775"/>
            <a:ext cx="228600" cy="228600"/>
          </a:xfrm>
          <a:prstGeom prst="ellipse">
            <a:avLst/>
          </a:prstGeom>
          <a:solidFill>
            <a:srgbClr val="245447"/>
          </a:solidFill>
          <a:ln w="12383">
            <a:solidFill>
              <a:srgbClr val="F4EAD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559BAF6-29ED-4EEC-A75D-F462206C45F2}"/>
              </a:ext>
            </a:extLst>
          </p:cNvPr>
          <p:cNvSpPr>
            <a:spLocks noGrp="1"/>
          </p:cNvSpPr>
          <p:nvPr/>
        </p:nvSpPr>
        <p:spPr>
          <a:xfrm>
            <a:off x="771525" y="590550"/>
            <a:ext cx="171450" cy="95250"/>
          </a:xfrm>
          <a:prstGeom prst="ellipse">
            <a:avLst/>
          </a:prstGeom>
          <a:solidFill>
            <a:srgbClr val="8FBF7F"/>
          </a:solidFill>
          <a:ln w="12383">
            <a:solidFill>
              <a:srgbClr val="8FBF7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13BD58-C87F-4387-8428-DCB4A81F6A1A}"/>
              </a:ext>
            </a:extLst>
          </p:cNvPr>
          <p:cNvSpPr>
            <a:spLocks noGrp="1"/>
          </p:cNvSpPr>
          <p:nvPr/>
        </p:nvSpPr>
        <p:spPr>
          <a:xfrm>
            <a:off x="10668000" y="457200"/>
            <a:ext cx="8191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112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09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DF0D74-8BCD-47DC-8403-AF9C479E692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6934200" cy="5905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850" b="1">
                <a:solidFill>
                  <a:srgbClr val="245447"/>
                </a:solidFill>
                <a:latin typeface="Iowan Old Style"/>
                <a:ea typeface="Iowan Old Style"/>
                <a:cs typeface="Iowan Old Style"/>
              </a:defRPr>
            </a:pPr>
            <a:r>
              <a:t>Key Takeaway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9C6DF-7C52-4034-B6E0-3F555D717095}"/>
              </a:ext>
            </a:extLst>
          </p:cNvPr>
          <p:cNvSpPr>
            <a:spLocks noGrp="1"/>
          </p:cNvSpPr>
          <p:nvPr/>
        </p:nvSpPr>
        <p:spPr>
          <a:xfrm>
            <a:off x="628650" y="1714500"/>
            <a:ext cx="5905500" cy="457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End with one sentence that leadership should remember.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8C21A03-1696-4226-85AC-8159E88387AD}"/>
              </a:ext>
            </a:extLst>
          </p:cNvPr>
          <p:cNvSpPr>
            <a:spLocks noGrp="1"/>
          </p:cNvSpPr>
          <p:nvPr/>
        </p:nvSpPr>
        <p:spPr>
          <a:xfrm>
            <a:off x="1104900" y="2381250"/>
            <a:ext cx="9982200" cy="1581150"/>
          </a:xfrm>
          <a:prstGeom prst="roundRect">
            <a:avLst>
              <a:gd name="adj" fmla="val 4819"/>
            </a:avLst>
          </a:prstGeom>
          <a:solidFill>
            <a:srgbClr val="245447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B704BF-41B8-48CA-BCBA-BE8081568572}"/>
              </a:ext>
            </a:extLst>
          </p:cNvPr>
          <p:cNvSpPr>
            <a:spLocks noGrp="1"/>
          </p:cNvSpPr>
          <p:nvPr/>
        </p:nvSpPr>
        <p:spPr>
          <a:xfrm>
            <a:off x="1314450" y="2544317"/>
            <a:ext cx="9563100" cy="1175576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2250" b="1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dirty="0"/>
              <a:t>The biggest mindset shift for us was...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859D7B47-054E-41E6-A22D-D44327C36F21}"/>
              </a:ext>
            </a:extLst>
          </p:cNvPr>
          <p:cNvSpPr>
            <a:spLocks noGrp="1"/>
          </p:cNvSpPr>
          <p:nvPr/>
        </p:nvSpPr>
        <p:spPr>
          <a:xfrm>
            <a:off x="1562100" y="4438650"/>
            <a:ext cx="2667000" cy="876300"/>
          </a:xfrm>
          <a:prstGeom prst="roundRect">
            <a:avLst>
              <a:gd name="adj" fmla="val 8696"/>
            </a:avLst>
          </a:prstGeom>
          <a:solidFill>
            <a:srgbClr val="DCEBE5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2F37481-6EEF-4659-A75C-471D0AD42850}"/>
              </a:ext>
            </a:extLst>
          </p:cNvPr>
          <p:cNvSpPr>
            <a:spLocks noGrp="1"/>
          </p:cNvSpPr>
          <p:nvPr/>
        </p:nvSpPr>
        <p:spPr>
          <a:xfrm>
            <a:off x="1771650" y="4648200"/>
            <a:ext cx="2247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This changed how we think about...</a:t>
            </a: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76390BC-1F5E-401A-9C9B-F2E46180F7B6}"/>
              </a:ext>
            </a:extLst>
          </p:cNvPr>
          <p:cNvSpPr>
            <a:spLocks noGrp="1"/>
          </p:cNvSpPr>
          <p:nvPr/>
        </p:nvSpPr>
        <p:spPr>
          <a:xfrm>
            <a:off x="4762500" y="4438650"/>
            <a:ext cx="2667000" cy="876300"/>
          </a:xfrm>
          <a:prstGeom prst="roundRect">
            <a:avLst>
              <a:gd name="adj" fmla="val 8696"/>
            </a:avLst>
          </a:prstGeom>
          <a:solidFill>
            <a:srgbClr val="F4EADC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44BE82-F62C-43E0-A62F-005617C22950}"/>
              </a:ext>
            </a:extLst>
          </p:cNvPr>
          <p:cNvSpPr>
            <a:spLocks noGrp="1"/>
          </p:cNvSpPr>
          <p:nvPr/>
        </p:nvSpPr>
        <p:spPr>
          <a:xfrm>
            <a:off x="4972050" y="4648200"/>
            <a:ext cx="2247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We would apply this next on...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45100AA9-2785-4756-8AA3-B723AD48779E}"/>
              </a:ext>
            </a:extLst>
          </p:cNvPr>
          <p:cNvSpPr>
            <a:spLocks noGrp="1"/>
          </p:cNvSpPr>
          <p:nvPr/>
        </p:nvSpPr>
        <p:spPr>
          <a:xfrm>
            <a:off x="7962900" y="4438650"/>
            <a:ext cx="2667000" cy="876300"/>
          </a:xfrm>
          <a:prstGeom prst="roundRect">
            <a:avLst>
              <a:gd name="adj" fmla="val 8696"/>
            </a:avLst>
          </a:prstGeom>
          <a:solidFill>
            <a:srgbClr val="DCEBE5"/>
          </a:solidFill>
          <a:ln w="12383">
            <a:solidFill>
              <a:srgbClr val="D8D0C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F19FB8-CA43-4484-BC6B-ED8E26CF5104}"/>
              </a:ext>
            </a:extLst>
          </p:cNvPr>
          <p:cNvSpPr>
            <a:spLocks noGrp="1"/>
          </p:cNvSpPr>
          <p:nvPr/>
        </p:nvSpPr>
        <p:spPr>
          <a:xfrm>
            <a:off x="8172450" y="4648200"/>
            <a:ext cx="2247900" cy="4762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l">
              <a:defRPr sz="1350" b="0">
                <a:solidFill>
                  <a:srgbClr val="20231F"/>
                </a:solidFill>
                <a:latin typeface="Avenir Next"/>
                <a:ea typeface="Avenir Next"/>
                <a:cs typeface="Avenir Next"/>
              </a:defRPr>
            </a:pPr>
            <a:r>
              <a:t>The thing we would fund next is...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EB05C1E-F299-4EDF-892D-5F6AC44A75C7}"/>
              </a:ext>
            </a:extLst>
          </p:cNvPr>
          <p:cNvSpPr>
            <a:spLocks noGrp="1"/>
          </p:cNvSpPr>
          <p:nvPr/>
        </p:nvSpPr>
        <p:spPr>
          <a:xfrm>
            <a:off x="11049000" y="6305550"/>
            <a:ext cx="45720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anchor="t"/>
          <a:lstStyle/>
          <a:p>
            <a:pPr algn="r">
              <a:defRPr sz="975" b="1">
                <a:solidFill>
                  <a:srgbClr val="5F4B66"/>
                </a:solidFill>
                <a:latin typeface="Avenir Next"/>
                <a:ea typeface="Avenir Next"/>
                <a:cs typeface="Avenir Next"/>
              </a:defRPr>
            </a:pPr>
            <a:r>
              <a:t>09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5745421-9450-4903-9CA2-5A049845423D}"/>
              </a:ext>
            </a:extLst>
          </p:cNvPr>
          <p:cNvSpPr>
            <a:spLocks noGrp="1"/>
          </p:cNvSpPr>
          <p:nvPr/>
        </p:nvSpPr>
        <p:spPr>
          <a:xfrm>
            <a:off x="609600" y="6153150"/>
            <a:ext cx="10382250" cy="14288"/>
          </a:xfrm>
          <a:prstGeom prst="rect">
            <a:avLst/>
          </a:prstGeom>
          <a:solidFill>
            <a:srgbClr val="D8D0C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375320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502</Words>
  <Application>Microsoft Macintosh PowerPoint</Application>
  <DocSecurity>0</DocSecurity>
  <PresentationFormat>Widescreen</PresentationFormat>
  <Paragraphs>116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Tom Richardson (Omnicom)</cp:lastModifiedBy>
  <cp:revision>1</cp:revision>
  <dcterms:created xsi:type="dcterms:W3CDTF">2026-06-08T03:35:38Z</dcterms:created>
  <dcterms:modified xsi:type="dcterms:W3CDTF">2026-06-08T03:55:33Z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2026-06-08T03:55:33Z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a34ce7a3-8893-41fa-a83a-97b99a603d30</vt:lpwstr>
  </property>
  <property fmtid="{D5CDD505-2E9C-101B-9397-08002B2CF9AE}" pid="8" name="MSIP_Label_8e19d756-792e-42a1-bcad-4cb9051ddd2d_ContentBits">
    <vt:lpwstr>2</vt:lpwstr>
  </property>
  <property fmtid="{D5CDD505-2E9C-101B-9397-08002B2CF9AE}" pid="9" name="MSIP_Label_8e19d756-792e-42a1-bcad-4cb9051ddd2d_Tag">
    <vt:lpwstr>50, 3, 0, 1</vt:lpwstr>
  </property>
  <property fmtid="{D5CDD505-2E9C-101B-9397-08002B2CF9AE}" pid="10" name="ClassificationContentMarkingFooterLocations">
    <vt:lpwstr>ChatGPT:3</vt:lpwstr>
  </property>
  <property fmtid="{D5CDD505-2E9C-101B-9397-08002B2CF9AE}" pid="11" name="ClassificationContentMarkingFooterText">
    <vt:lpwstr>Confidential - Not for Public Consumption or Distribution</vt:lpwstr>
  </property>
</Properties>
</file>